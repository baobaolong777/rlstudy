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基于 PPO 与 SAC+HER 的机械臂</a:t>
            </a:r>
            <a:br/>
            <a:r>
              <a:t>强化学习对比实验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CC"/>
                </a:solidFill>
              </a:defRPr>
            </a:pPr>
            <a:r>
              <a:t>Panda PickAndPlace 任务 · Franka Panda 机械臂仿真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AA"/>
                </a:solidFill>
              </a:defRPr>
            </a:pPr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实验背景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10972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</a:defRPr>
            </a:pPr>
            <a:r>
              <a:t>任务环境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Franka Panda 机械臂仿真 (panda_gym)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109728" cy="10972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</a:defRPr>
            </a:pPr>
            <a:r>
              <a:t>实验平台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Stable-Baselines3 · PyBullet 物理引擎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109728" cy="10972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</a:defRPr>
            </a:pPr>
            <a:r>
              <a:t>递进任务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5195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Reach（到达）→ Push（推动）→ PickAndPlace（抓取放置）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03520"/>
            <a:ext cx="109728" cy="10972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</a:defRPr>
            </a:pPr>
            <a:r>
              <a:t>核心任务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62355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PandaPickAndPlaceDense-v3</a:t>
            </a:r>
            <a:br/>
            <a:r>
              <a:t>多阶段：接近→抓取→抬起→移动→放置</a:t>
            </a:r>
            <a:br/>
            <a:r>
              <a:t>一类失败则整体失败，是典型的复杂多阶段任务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6C00"/>
                </a:solidFill>
              </a:defRPr>
            </a:pPr>
            <a:r>
              <a:t>算法介绍：PPO</a:t>
            </a:r>
          </a:p>
        </p:txBody>
      </p:sp>
      <p:pic>
        <p:nvPicPr>
          <p:cNvPr id="4" name="Picture 3" descr="66fa1378d30f7bc13830dd1067ded3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874770"/>
          </a:xfrm>
          <a:prstGeom prst="rect">
            <a:avLst/>
          </a:prstGeom>
        </p:spPr>
      </p:pic>
      <p:pic>
        <p:nvPicPr>
          <p:cNvPr id="5" name="Picture 4" descr="a8884ed5a1217ffca92d90c278e2d7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38217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AA"/>
                </a:solidFill>
              </a:defRPr>
            </a:pPr>
            <a:r>
              <a:t>PandaReach 训练曲线（PPO, 4万步达100%成功率）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AA"/>
                </a:solidFill>
              </a:defRPr>
            </a:pPr>
            <a:r>
              <a:t>PandaReach 成功率先升至100%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On-policy 算法：采集一批数据 → 更新策略 → 丢弃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适合单阶段任务（如 Reach），100% 成功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样本效率低，每步数据只用一次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CC66"/>
                </a:solidFill>
              </a:defRPr>
            </a:pPr>
            <a:r>
              <a:t>算法介绍：SAC + 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</a:defRPr>
            </a:pPr>
            <a:r>
              <a:t>SAC (Soft Actor-Critic)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Off-policy 算法，有 replay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最大熵框架：在奖励和探索之间平衡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历史数据可反复使用，样本效率高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</a:defRPr>
            </a:pPr>
            <a:r>
              <a:t>HER (Hindsight Experience Replay)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把失败轨迹"重新标目标"变成有用经验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例如：没抓到物体 → 目标改为手的位置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• 失败=下一次学习的正样本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109728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C66"/>
                </a:solidFill>
              </a:defRPr>
            </a:pPr>
            <a:r>
              <a:t>SAC 提供 replay buffer + 高样本效率，HER 将失败转化为有用经验 → 天然互补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D700"/>
                </a:solidFill>
              </a:defRPr>
            </a:pPr>
            <a:r>
              <a:t>实验结果对比：PickAndPlace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29000"/>
                <a:gridCol w="342900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SAC + HER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训练步数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760 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100 万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测试成功率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99%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平均完成步数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50（超时）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8.5 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完成1轮所需步数（最快）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50 步全部失败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5 步成功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09bc5469299131d4fc954b1dd36f6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0"/>
            <a:ext cx="2743200" cy="1008863"/>
          </a:xfrm>
          <a:prstGeom prst="rect">
            <a:avLst/>
          </a:prstGeom>
        </p:spPr>
      </p:pic>
      <p:pic>
        <p:nvPicPr>
          <p:cNvPr id="6" name="Picture 5" descr="09ebe14fa9615ec77f6585c0608621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4572000"/>
            <a:ext cx="2743200" cy="1467150"/>
          </a:xfrm>
          <a:prstGeom prst="rect">
            <a:avLst/>
          </a:prstGeom>
        </p:spPr>
      </p:pic>
      <p:pic>
        <p:nvPicPr>
          <p:cNvPr id="7" name="Picture 6" descr="59d5b45f5efed7c0d6e0c6b5b95b2f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572000"/>
            <a:ext cx="2743200" cy="1480211"/>
          </a:xfrm>
          <a:prstGeom prst="rect">
            <a:avLst/>
          </a:prstGeom>
        </p:spPr>
      </p:pic>
      <p:pic>
        <p:nvPicPr>
          <p:cNvPr id="8" name="Picture 7" descr="cbe012e68294c8e1acfb801d606c9f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4572000"/>
            <a:ext cx="2743200" cy="14580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9B4"/>
                </a:solidFill>
              </a:defRPr>
            </a:pPr>
            <a:r>
              <a:t>演示视频对比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任务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SAC+HER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Reach (PPO)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PickAndPlace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❌ 全部失败</a:t>
                      </a:r>
                    </a:p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50步超时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✅ 100%成功</a:t>
                      </a:r>
                    </a:p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平均8.5步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✅ 100%成功</a:t>
                      </a:r>
                    </a:p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最快1步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视频文件路径（PPT 中可插入视频）：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DD"/>
                </a:solidFill>
              </a:defRPr>
            </a:pPr>
            <a:r>
              <a:t>• Reach 成功演示：demo/reach_demo/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DD"/>
                </a:solidFill>
              </a:defRPr>
            </a:pPr>
            <a:r>
              <a:t>• PPO PickAndPlace 失败演示：demo/ppo_pickandplace_demo/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DD"/>
                </a:solidFill>
              </a:defRPr>
            </a:pPr>
            <a:r>
              <a:t>• SAC+HER PickAndPlace 成功演示：demo/sac_her_demo/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AA"/>
                </a:solidFill>
              </a:defRPr>
            </a:pPr>
            <a:r>
              <a:t>操作：插入 → 视频 → 此设备 → 选择对应 mp4 文件</a:t>
            </a:r>
          </a:p>
        </p:txBody>
      </p:sp>
      <p:pic>
        <p:nvPicPr>
          <p:cNvPr id="10" name="Picture 9" descr="8690929472d650ef4562661878cdc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657600"/>
            <a:ext cx="2743200" cy="8444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6C00"/>
                </a:solidFill>
              </a:defRPr>
            </a:pPr>
            <a:r>
              <a:t>分析：为什么 PPO 不行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</a:defRPr>
            </a:pPr>
            <a:r>
              <a:t>▸ On-policy 本质：失败轨迹采集完就丢弃，信息浪费严重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</a:defRPr>
            </a:pPr>
            <a:r>
              <a:t>▸ PickAndPlace 是多阶段任务（接近→抓→抬→移→放），每步都可能失败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</a:defRPr>
            </a:pPr>
            <a:r>
              <a:t>▸ 单次失败概率高 → 完整成功轨迹极少 → 策略几乎学不到正面信息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5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</a:defRPr>
            </a:pPr>
            <a:r>
              <a:t>▸ 增加训练步数到 2000 万可能有效，但成本过高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6C00"/>
                </a:solidFill>
              </a:defRPr>
            </a:pPr>
            <a:r>
              <a:t>PPO on PickAndPlace：760万步 → 4% 成功率</a:t>
            </a:r>
          </a:p>
        </p:txBody>
      </p:sp>
      <p:pic>
        <p:nvPicPr>
          <p:cNvPr id="9" name="Picture 8" descr="dc398dbe04db115277e63eef7e7bd6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65759"/>
            <a:ext cx="4572000" cy="2965458"/>
          </a:xfrm>
          <a:prstGeom prst="rect">
            <a:avLst/>
          </a:prstGeom>
        </p:spPr>
      </p:pic>
      <p:pic>
        <p:nvPicPr>
          <p:cNvPr id="10" name="Picture 9" descr="fc42f661c07dc4f34ce9182b29781a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011680"/>
            <a:ext cx="4572000" cy="28831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CC66"/>
                </a:solidFill>
              </a:defRPr>
            </a:pPr>
            <a:r>
              <a:t>分析：为什么 SAC+HER 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</a:defRPr>
            </a:pPr>
            <a:r>
              <a:t>▸ SAC 的 replay buffer 存下所有历史轨迹，反复回放学习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</a:defRPr>
            </a:pPr>
            <a:r>
              <a:t>▸ HER 将失败轨迹重新解释为目标接近样本，变废为宝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</a:defRPr>
            </a:pPr>
            <a:r>
              <a:t>▸ 40 万步即达 87% 成功率，100 万步 99%~100%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5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</a:defRPr>
            </a:pPr>
            <a:r>
              <a:t>▸ 样本效率远超 PPO：约 1/10 步数达到远超 PPO 的效果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CC66"/>
                </a:solidFill>
              </a:defRPr>
            </a:pPr>
            <a:r>
              <a:t>SAC+HER on PickAndPlace：100万步 → 99% 成功率</a:t>
            </a:r>
          </a:p>
        </p:txBody>
      </p:sp>
      <p:pic>
        <p:nvPicPr>
          <p:cNvPr id="9" name="Picture 8" descr="09bc5469299131d4fc954b1dd36f6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657600"/>
            <a:ext cx="2377440" cy="874348"/>
          </a:xfrm>
          <a:prstGeom prst="rect">
            <a:avLst/>
          </a:prstGeom>
        </p:spPr>
      </p:pic>
      <p:pic>
        <p:nvPicPr>
          <p:cNvPr id="10" name="Picture 9" descr="09ebe14fa9615ec77f6585c0608621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3657600"/>
            <a:ext cx="2377440" cy="1271530"/>
          </a:xfrm>
          <a:prstGeom prst="rect">
            <a:avLst/>
          </a:prstGeom>
        </p:spPr>
      </p:pic>
      <p:pic>
        <p:nvPicPr>
          <p:cNvPr id="11" name="Picture 10" descr="59d5b45f5efed7c0d6e0c6b5b95b2f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120640"/>
            <a:ext cx="2377440" cy="1282849"/>
          </a:xfrm>
          <a:prstGeom prst="rect">
            <a:avLst/>
          </a:prstGeom>
        </p:spPr>
      </p:pic>
      <p:pic>
        <p:nvPicPr>
          <p:cNvPr id="12" name="Picture 11" descr="cbe012e68294c8e1acfb801d606c9f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5120640"/>
            <a:ext cx="2377440" cy="12636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D700"/>
                </a:solidFill>
              </a:defRPr>
            </a:pPr>
            <a: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PPO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适合简单单阶段任务（如 Reach），稳定可控</a:t>
            </a:r>
            <a:br/>
            <a:r>
              <a:t>在多阶段复杂任务上样本效率严重不足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109728" cy="548640"/>
          </a:xfrm>
          <a:prstGeom prst="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C66"/>
                </a:solidFill>
              </a:defRPr>
            </a:pPr>
            <a:r>
              <a:t>SAC + 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37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off-policy + HER 天然适合多阶段任务</a:t>
            </a:r>
            <a:br/>
            <a:r>
              <a:t>样本效率高，是近三年 RL 领域重要成果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480560"/>
            <a:ext cx="109728" cy="5486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</a:defRPr>
            </a:pPr>
            <a:r>
              <a:t>实验结论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83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</a:defRPr>
            </a:pPr>
            <a:r>
              <a:t>算法选择应匹配任务特性</a:t>
            </a:r>
            <a:br/>
            <a:r>
              <a:t>HER 有效解决了稀疏奖励和多阶段问题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109728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AA"/>
                </a:solidFill>
              </a:defRPr>
            </a:pPr>
            <a:r>
              <a:t>HER 论文：Hindsight Experience Replay (Andrychowicz et al., 2017)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